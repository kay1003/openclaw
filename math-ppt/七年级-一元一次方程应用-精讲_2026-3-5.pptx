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106984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DC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02634"/>
                </a:solidFill>
              </a:defRPr>
            </a:pPr>
            <a:r>
              <a:t>一元一次方程应用（精美课堂版）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E7887"/>
                </a:solidFill>
              </a:defRPr>
            </a:pPr>
            <a:r>
              <a:t>教学目标：会列方程、会解方程、会检验与反思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931920"/>
            <a:ext cx="1920240" cy="594360"/>
          </a:xfrm>
          <a:prstGeom prst="roundRect">
            <a:avLst/>
          </a:prstGeom>
          <a:solidFill>
            <a:srgbClr val="EBF1FF"/>
          </a:solidFill>
          <a:ln>
            <a:solidFill>
              <a:srgbClr val="C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56A6"/>
                </a:solidFill>
              </a:defRPr>
            </a:pPr>
            <a:r>
              <a:t>知识点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3931920"/>
            <a:ext cx="1920240" cy="594360"/>
          </a:xfrm>
          <a:prstGeom prst="roundRect">
            <a:avLst/>
          </a:prstGeom>
          <a:solidFill>
            <a:srgbClr val="EBF1FF"/>
          </a:solidFill>
          <a:ln>
            <a:solidFill>
              <a:srgbClr val="C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56A6"/>
                </a:solidFill>
              </a:defRPr>
            </a:pPr>
            <a:r>
              <a:t>例题精讲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3931920"/>
            <a:ext cx="1920240" cy="594360"/>
          </a:xfrm>
          <a:prstGeom prst="roundRect">
            <a:avLst/>
          </a:prstGeom>
          <a:solidFill>
            <a:srgbClr val="EBF1FF"/>
          </a:solidFill>
          <a:ln>
            <a:solidFill>
              <a:srgbClr val="C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56A6"/>
                </a:solidFill>
              </a:defRPr>
            </a:pPr>
            <a:r>
              <a:t>易错点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3931920"/>
            <a:ext cx="1920240" cy="594360"/>
          </a:xfrm>
          <a:prstGeom prst="roundRect">
            <a:avLst/>
          </a:prstGeom>
          <a:solidFill>
            <a:srgbClr val="EBF1FF"/>
          </a:solidFill>
          <a:ln>
            <a:solidFill>
              <a:srgbClr val="C8D6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56A6"/>
                </a:solidFill>
              </a:defRPr>
            </a:pPr>
            <a:r>
              <a:t>课堂练习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教学目标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772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理解一元一次方程应用题的建模流程。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掌握“设未知数—列方程—求解—检验—作答”五步法。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能解决折扣、行程、工程等基础应用题。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651760" cy="49377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856A6"/>
                </a:solidFill>
              </a:defRPr>
            </a:pPr>
            <a:r>
              <a:t>课堂提示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先画数量关系图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列方程后先验单位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解出后务必代回检验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核心方法：五步建模法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772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读题：圈出已知量与未知量。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设元：设未知数为 x。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列式：根据等量关系建立方程。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求解：按解方程规则求 x。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检验与作答：代回原题并写出结论。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651760" cy="49377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856A6"/>
                </a:solidFill>
              </a:defRPr>
            </a:pPr>
            <a:r>
              <a:t>课堂提示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先画数量关系图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列方程后先验单位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解出后务必代回检验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例题精讲：商品打折问题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972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02634"/>
                </a:solidFill>
              </a:defRPr>
            </a:pPr>
            <a:r>
              <a:t>题目：一件衣服按八折出售后售价 120 元，求原价是多少元？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68580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63093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02634"/>
                </a:solidFill>
              </a:defRPr>
            </a:pPr>
            <a:r>
              <a:t>1. 设原价为 x 元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2. 根据“八折售价=0.8×原价”：0.8x = 120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3. 解得 x = 150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4. 检验：150×0.8=120（成立）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5. 答：原价是 150 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651760"/>
            <a:ext cx="3840480" cy="3566160"/>
          </a:xfrm>
          <a:prstGeom prst="roundRect">
            <a:avLst/>
          </a:prstGeom>
          <a:solidFill>
            <a:srgbClr val="FFFAF0"/>
          </a:solidFill>
          <a:ln>
            <a:solidFill>
              <a:srgbClr val="FCDB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>
                <a:solidFill>
                  <a:srgbClr val="F58C28"/>
                </a:solidFill>
              </a:defRPr>
            </a:pPr>
            <a:r>
              <a:t>关键表达</a:t>
            </a:r>
          </a:p>
          <a:p>
            <a:pPr>
              <a:defRPr sz="2400" b="1">
                <a:solidFill>
                  <a:srgbClr val="202634"/>
                </a:solidFill>
              </a:defRPr>
            </a:pPr>
            <a:r>
              <a:t>0.8x = 120</a:t>
            </a:r>
          </a:p>
          <a:p>
            <a:pPr>
              <a:defRPr sz="2400" b="1">
                <a:solidFill>
                  <a:srgbClr val="202634"/>
                </a:solidFill>
              </a:defRPr>
            </a:pPr>
            <a:r>
              <a:t>x = 120 ÷ 0.8</a:t>
            </a:r>
          </a:p>
          <a:p>
            <a:pPr>
              <a:defRPr sz="2400" b="1">
                <a:solidFill>
                  <a:srgbClr val="202634"/>
                </a:solidFill>
              </a:defRPr>
            </a:pPr>
            <a:r>
              <a:t>x = 150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易错点与纠正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772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把“打几折”误写成减法：八折应写 0.8x，不是 x-0.8。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移项忘记变号，导致结果错误。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解完方程不检验，易出现隐性错误。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单位不统一（元、角）导致列式不对。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651760" cy="49377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856A6"/>
                </a:solidFill>
              </a:defRPr>
            </a:pPr>
            <a:r>
              <a:t>课堂提示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每题最后写“检验”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单位先统一再列式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步骤尽量完整书写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课堂练习（分层）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7724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E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7040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基础1：某数加上 7 等于 20，求这个数。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基础2：一个数的 3 倍减 5 等于 16，求这个数。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提升1：一本书原价 x 元，九折后 45 元，求原价。</a:t>
            </a:r>
          </a:p>
          <a:p>
            <a:pPr>
              <a:spcAft>
                <a:spcPts val="1000"/>
              </a:spcAft>
              <a:defRPr sz="2200">
                <a:solidFill>
                  <a:srgbClr val="202634"/>
                </a:solidFill>
              </a:defRPr>
            </a:pPr>
            <a:r>
              <a:t>● 提升2：甲数比乙数大 12，且甲数是乙数的 2 倍，求甲乙两数。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371600"/>
            <a:ext cx="2651760" cy="4937760"/>
          </a:xfrm>
          <a:prstGeom prst="roundRect">
            <a:avLst/>
          </a:prstGeom>
          <a:solidFill>
            <a:srgbClr val="EDF4FF"/>
          </a:solidFill>
          <a:ln>
            <a:solidFill>
              <a:srgbClr val="CBD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2856A6"/>
                </a:solidFill>
              </a:defRPr>
            </a:pPr>
            <a:r>
              <a:t>课堂提示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先独立 6 分钟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同桌互检 2 分钟</a:t>
            </a:r>
          </a:p>
          <a:p>
            <a:pPr>
              <a:defRPr sz="1500">
                <a:solidFill>
                  <a:srgbClr val="6E7887"/>
                </a:solidFill>
              </a:defRPr>
            </a:pPr>
            <a:r>
              <a:t>- 抽 2 题板演讲评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85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七年级数学 · 一元一次方程应用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34"/>
                </a:solidFill>
              </a:defRPr>
            </a:pPr>
            <a:r>
              <a:t>课堂小结与作业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2856A6"/>
                </a:solidFill>
              </a:defRPr>
            </a:pPr>
            <a:r>
              <a:t>本节收获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1) 会从文字中提炼等量关系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2) 会用一元一次方程建模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3) 会解方程并代回检验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0292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 b="1">
                <a:solidFill>
                  <a:srgbClr val="F58C28"/>
                </a:solidFill>
              </a:defRPr>
            </a:pPr>
            <a:r>
              <a:t>作业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必做：教材习题 6 题（应用题为主）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选做：设计一道生活化方程题并解答</a:t>
            </a:r>
          </a:p>
          <a:p>
            <a:pPr>
              <a:defRPr sz="2000">
                <a:solidFill>
                  <a:srgbClr val="202634"/>
                </a:solidFill>
              </a:defRPr>
            </a:pPr>
            <a:r>
              <a:t>预习：二元一次方程组的概念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