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1078992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C222E"/>
                </a:solidFill>
              </a:defRPr>
            </a:pPr>
            <a:r>
              <a:t>一元一次方程应用（16页精讲）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080"/>
                </a:solidFill>
              </a:defRPr>
            </a:pPr>
            <a:r>
              <a:t>设未知数 → 列方程 → 解方程 → 检验 → 作答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2. 学情分析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学生已学等式性质与整式运算，具备基础解方程能力。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难点在“文字转数学”与“等量关系识别”。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常见问题：设元随意、列式不完整、忽略检验。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先诊断再讲新知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让学生口头复述题意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3. 教学目标（3维）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知识与技能：掌握应用题建模五步法。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过程与方法：通过例题学会从条件提取等量关系。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情感与价值：体会方程在生活问题中的作用。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目标写在板书左上角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结尾逐条回扣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4. 重点与难点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重点：正确设未知数并列出一元一次方程。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难点：复杂语句中的数量关系转写。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突破策略：画关系图 + 句式模板。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强调“等量关系句”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鼓励多种设元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5. 旧知回顾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等式两边同加同减、同乘同除（不为0）性质。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去括号、移项、合并同类项步骤。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口算训练：3x-5=16，2(x+3)=14。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用3道快问快答热身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纠正移项符号错误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6. 新知讲解①：建模五步法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第1步：审题，圈“已知量/未知量/关系词”。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第2步：设元，用x表示核心未知。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第3步：列式，把关系词翻译成等式。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第4步：求解，规范书写每一步。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第5步：检验与作答，回到原题语境。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五步法做成固定口令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每题都要求检验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7. 新知讲解②：关系词翻译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“比……多a” → x+a；“比……少a” → x-a。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“打n折” → n/10 × 原价。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“增加p%” → (1+p%)x；“减少p%” → (1-p%)x。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让学生自造句并翻译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强化单位一致性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8. 例题1（基础）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题目：某数加7等于20，求该数。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设该数为x，则 x+7=20。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解：x=13。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检验：13+7=20（成立）。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作答：该数是13。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示范完整书写格式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强调“答”不能省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9. 例题2（折扣）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题目：商品八折后售价120元，求原价。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设原价x元，则0.8x=120。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解得x=150。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检验：150×0.8=120。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结论：原价150元。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提示小数可化分数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引导估算判断合理性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10. 例题3（行程）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题目：甲乙相向而行，速度和为110 km/h，2小时相遇。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设甲速度x，则乙速度110-x。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根据路程和：2x + 2(110-x) = 220。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变式：若已知乙比甲快10 km/h如何列式？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给图示：路程=速度×时间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先写总关系再代数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11. 例题4（工程）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题目：甲单独6天完成，乙单独9天完成，合做几天？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设合做x天完成：x/6 + x/9 = 1。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通分得：3x+2x=18，x=3.6。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结论：合做约3.6天完成。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强调“工作总量=1”模型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分数方程通分技巧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12. 易错点专题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误把“打八折”写成x-0.8。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移项不变号、去括号漏符号。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设元与问题不匹配（问原价却设售价）。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忘记检验，导致结果不合语境。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展示错误解法并纠正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让学生当“小老师”改错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13. 变式训练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同类题变条件：折扣改为“先涨10%再打9折”。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同题多设元：设原价/设折后价分别列式。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一题多解：方程法与算术法对比。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训练“迁移能力”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鼓励解释为什么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14. 分层练习A（基础）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A1：某数的3倍减5等于16。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A2：一本书原价x，九折后45元。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A3：比某数少12的数是20。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要求：写出设元、方程、解、检验、答。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巡回检查书写规范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先独立后订正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15. 分层练习B（提升）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B1：甲数是乙数2倍且两数和为54。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B2：一件商品先涨20%再降20%，现价96元求原价。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B3：两人合作任务，效率比3:2，总量30。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引导先列关系表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鼓励同伴互评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1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E"/>
                </a:solidFill>
              </a:defRPr>
            </a:pPr>
            <a:r>
              <a:t>16. 课堂小结与作业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81381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A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C222E"/>
                </a:solidFill>
              </a:defRPr>
            </a:pPr>
            <a:r>
              <a:t>• 本节核心：抓等量关系，方程建模解决问题。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方法闭环：审题→设元→列式→求解→检验→作答。</a:t>
            </a:r>
          </a:p>
          <a:p>
            <a:pPr>
              <a:spcAft>
                <a:spcPts val="800"/>
              </a:spcAft>
              <a:defRPr sz="2000">
                <a:solidFill>
                  <a:srgbClr val="1C222E"/>
                </a:solidFill>
              </a:defRPr>
            </a:pPr>
            <a:r>
              <a:t>• 必做：教材习题6题；选做：设计1道生活化应用题并解答。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325880"/>
            <a:ext cx="2514600" cy="51663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156A0"/>
                </a:solidFill>
              </a:defRPr>
            </a:pPr>
            <a:r>
              <a:t>讲课提示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最后3分钟口头复盘</a:t>
            </a:r>
          </a:p>
          <a:p>
            <a:pPr>
              <a:defRPr sz="1400">
                <a:solidFill>
                  <a:srgbClr val="647080"/>
                </a:solidFill>
              </a:defRPr>
            </a:pPr>
            <a:r>
              <a:t>• 作业分层布置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