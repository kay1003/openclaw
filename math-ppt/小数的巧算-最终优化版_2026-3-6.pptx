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 · 文本重排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课堂讲义（最终优化版）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7442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D46"/>
                </a:solidFill>
              </a:defRPr>
            </a:pPr>
            <a:r>
              <a:t>基于已确认 OCR 文本进行教学化排版</a:t>
            </a:r>
          </a:p>
          <a:p>
            <a:r>
              <a:t>（不贴原图，保留原文内容）</a:t>
            </a:r>
          </a:p>
          <a:p>
            <a:pPr>
              <a:defRPr sz="2200">
                <a:solidFill>
                  <a:srgbClr val="4E607D"/>
                </a:solidFill>
              </a:defRPr>
            </a:pPr>
            <a:r>
              <a:t>结构：概念要点 → 例题精讲 → 随堂练习 → 思考拓展 → 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第1页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第1讲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小数的巧算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小数“巧”算的基本途径是灵活应用小数四则运算的法则、运算定律，使题目中的数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尽可能地化为整数。在某种意义上讲，“化整”是小数运算技巧的灵魂。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当然，根据小数的特点，在乘除运算中灵活运用小数点的移位：两数相乘，两数中的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小数点反向移动相同的位数，其积不变（如0.8×1.25=8×0.125）；两数相除，两数中的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小数点同向移动相同的位数，其商不变（如0.16÷0.04=16÷4)。这也是常见的简化运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算的方法。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另外，某些特殊小数相乘化整，应熟记于心。如上面的8×0.125=1；0.5×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2=0.25×4=1；0.75×4=3；0.625×16=10等等。同学们在平时做题时留心积累这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第1页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些“窍门”会大大提高自己的运算能力。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2028X18-202.8X90+20280X0.1。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利用小数乘积移动法则，可将2028、202.8、20280这三个数变成相同的数。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202.8X90=2028X9，20280X0.1=2028,则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原式=2028×18-2028×9+2018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=2028X（18-9+1)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=2028X10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第1页 · 第3段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=20 280。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第2页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例2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0.2×63+1.9×126+182×9。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可以提取,从而使计算简化。则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原式=0.2× 63+1.9 × 2× 63+ 26 × 7 × 9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=63 × (0.2+3.8+26)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=63 X 30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=1890。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随堂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第2页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练习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（1）计算：1.25×3.14+125X0.0257+1250X0.00229;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(2）计算：22.8×98+45.6。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0.27÷0.25。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除数是0.25，可以运用商不变的规律把题目中的被除数和除数同时乘4，将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原式转化成除数是1的除法。则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第2页 · 第3段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第3页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原式=(0.27 × 4)÷(0.25× 4)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=1.08÷1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=1. 08。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0.8+9.8+99.8+999.8+9999.8+..+999 999999.8。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用凑整的方法,将每一个加数都转化为一个整数与0.2的差。则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原式=(1 —0.2) +(10 — 0.2) +(100 — 0. 2)+ ·+(10°—0. 2)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=1111111111 —0.2X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第3页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=1111 111111— 2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=1111111109.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随堂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（1）计算：320÷1.25÷8;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(2）计算：10.08+20.16+30.32+40.64+51.28—8.07—12.15—16.31—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20.63—25.27。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999. 9 X 0. 28 —0. 6666 X 370。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第3页 · 第3段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例5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第4页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题目是两个积相减，但是没有相同的因数，不能直接运用乘法分配律。由于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9999和6666都是3333的倍数，我们可以运用积不变的规律进行适当的调整。则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原式=999.9×0.28—666.6×0.37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=333.3X3X0.28—333.3X2X0.37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0.84 —333.3 X 0.74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(0.84 —0.74)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0.1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=33.33。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第4页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例6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(1+0.12+0.23)X(0.12+0.23+0.34)—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(1+0.12+0.23+0.34)×(0.12+0.23)。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若直接进行乘法运算，将会出现许多项小数的两两积，运算将变得十分繁琐。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注意到全式只出现4个数：1、0.12、0.23、0.34,每个括号内出现的数是这4个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数不同的组合，若适当地将某些组合看为一个整体,用一个字母表示,则可化零为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整，减少运算步骤。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令 M =0.12+0.23，N =0.12+0.23+0.34。 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原式=(1+M)× N-（1+N)×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第4页 · 第3段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WXN-W-NXW+N=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=N-M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=0.34。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说明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用字母代替数，可将复杂的运算变得简洁，字母在这里起到了桥梁和纽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带的作用。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第5页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随堂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(1）计算：5.2×1111+6666×0.8;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(2）计算：（2+1.23+2.34)×(1.23+2.34+3.45)—（1.23+2.34)×(2+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1.23+2.34 +3.45)。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想一想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三个9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小聪的妈妈问小聪：“用三个9和适当的数学符号能得到11吗？”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这题目很容易，小聪脱口而出：“99÷9=11”。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第5页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“用三个9和适当的数学符号能得到10吗？”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这题目也不难，小聪稍稍想一想，就写出了9÷9十9=10。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“用三个9和适当的数学符号，能不能得到20？”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“加号、减号、乘号、除号、乘方、括号，能想到的办法全试过了，就是得不出20。是不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是应该回答‘不能”？”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“暂时不要下结论，再想想还有什么常用的数学符号？”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“还有…..·有了，小数点！可以用小数点,得到(9十 9)÷0. 9=20。”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小数点虽只有一点点，容易被人忘记，但是它的作用却很大，不可忽视。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练习题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计算：37.5—1.53—0.25—1.22。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第5页 · 第3段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计算：2.5×1.25×3.2。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计算:3.74×2.85+8.15×3.74-3.74。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计算：3.6×31.4+43.9×6.4。(提示：43.9=31.4+12.5)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计算：2.4×7.6+7.6×6.5+7.6+0.76。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计算：8.5÷0.4÷2.5。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计算：0.99999 ×1.2—0.66666 ×0.8。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计算：18.3×0.25+5.3÷0.4—3.13×2.5。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第6页 · 第1段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计算：2028×0.375—0.375X1962+3.75X3.4。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要使下面算式的得数是自然数(不为0)，方框里填人的最小自然数是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(12.5÷3.6+7÷9) X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计算：101×201.6×121÷1111÷50.4。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比较下面两个乘积A、B的大小: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A=9.8732X7.2345，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B =9.8733 X7.2344。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计算：37.9×0.038+12.1X0.379+6.21×1.59。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第6页 · 第2段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686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5480" y="1325880"/>
            <a:ext cx="1920240" cy="5303520"/>
          </a:xfrm>
          <a:prstGeom prst="roundRect">
            <a:avLst/>
          </a:prstGeom>
          <a:solidFill>
            <a:srgbClr val="EDF4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674C4"/>
                </a:solidFill>
              </a:defRPr>
            </a:pPr>
            <a:r>
              <a:t>讲解提示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读题先圈关键词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优先化整再运算</a:t>
            </a:r>
          </a:p>
          <a:p>
            <a:pPr>
              <a:defRPr sz="1300">
                <a:solidFill>
                  <a:srgbClr val="5A6A84"/>
                </a:solidFill>
              </a:defRPr>
            </a:pPr>
            <a:r>
              <a:t>• 最后做结果检验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8138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232D46"/>
                </a:solidFill>
              </a:defRPr>
            </a:pPr>
            <a:r>
              <a:t>14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计算：201.6×7.8÷9×3÷67.2×5÷3.9。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15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将甲数的小数点向右移动一位得到乙数,将甲数的小数点向左移动两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位得到丙数。如果甲、乙、丙三个数的和是181.665,那么甲数等于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课堂总结与巩固建议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640080"/>
            <a:ext cx="1554480" cy="475488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74C4"/>
                </a:solidFill>
              </a:defRPr>
            </a:pPr>
            <a:r>
              <a:t>优化版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7442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9669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32D46"/>
                </a:solidFill>
              </a:defRPr>
            </a:pPr>
            <a:r>
              <a:t>1) 核心思想：化整、凑整、运算律灵活应用。</a:t>
            </a:r>
          </a:p>
          <a:p>
            <a:pPr>
              <a:defRPr sz="2100">
                <a:solidFill>
                  <a:srgbClr val="232D46"/>
                </a:solidFill>
              </a:defRPr>
            </a:pPr>
            <a:r>
              <a:t>2) 关键技巧：乘除中的小数点移位、积不变与商不变。</a:t>
            </a:r>
          </a:p>
          <a:p>
            <a:pPr>
              <a:defRPr sz="2100">
                <a:solidFill>
                  <a:srgbClr val="232D46"/>
                </a:solidFill>
              </a:defRPr>
            </a:pPr>
            <a:r>
              <a:t>3) 复杂表达式：可用字母代换减少重复运算。</a:t>
            </a:r>
          </a:p>
          <a:p>
            <a:pPr>
              <a:defRPr sz="2100">
                <a:solidFill>
                  <a:srgbClr val="232D46"/>
                </a:solidFill>
              </a:defRPr>
            </a:pPr>
            <a:r>
              <a:t>4) 课堂建议：先结构观察，再选最短计算路径。</a:t>
            </a:r>
          </a:p>
          <a:p>
            <a:pPr>
              <a:defRPr sz="2100">
                <a:solidFill>
                  <a:srgbClr val="232D46"/>
                </a:solidFill>
              </a:defRPr>
            </a:pPr>
            <a:r>
              <a:t>5) 课后巩固：同类题3道 + 变式题2道。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658368"/>
            <a:ext cx="2971800" cy="475488"/>
          </a:xfrm>
          <a:prstGeom prst="roundRect">
            <a:avLst/>
          </a:prstGeom>
          <a:solidFill>
            <a:srgbClr val="FFF2E5"/>
          </a:solidFill>
          <a:ln>
            <a:solidFill>
              <a:srgbClr val="FBD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28A28"/>
                </a:solidFill>
              </a:defRPr>
            </a:pPr>
            <a:r>
              <a:t>共 19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