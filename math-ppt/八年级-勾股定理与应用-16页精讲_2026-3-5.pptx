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21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八年级数学：勾股定理与应用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097280"/>
            <a:ext cx="1024128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2011680"/>
            <a:ext cx="96926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1C222E"/>
                </a:solidFill>
              </a:defRPr>
            </a:pPr>
            <a:r>
              <a:t>八年级数学：勾股定理与应用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21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初中数学精讲课件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C222E"/>
                </a:solidFill>
              </a:defRPr>
            </a:pPr>
            <a:r>
              <a:t>教学目标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972800" cy="5212080"/>
          </a:xfrm>
          <a:prstGeom prst="roundRect">
            <a:avLst/>
          </a:prstGeom>
          <a:solidFill>
            <a:srgbClr val="FFFFFF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737360"/>
            <a:ext cx="1024128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>
                <a:solidFill>
                  <a:srgbClr val="1C222E"/>
                </a:solidFill>
              </a:defRPr>
            </a:pPr>
            <a:r>
              <a:t>• 掌握核心概念与方法。</a:t>
            </a:r>
          </a:p>
          <a:p>
            <a:pPr>
              <a:defRPr sz="2100">
                <a:solidFill>
                  <a:srgbClr val="1C222E"/>
                </a:solidFill>
              </a:defRPr>
            </a:pPr>
            <a:r>
              <a:t>• 能完成基础到中档应用题。</a:t>
            </a:r>
          </a:p>
          <a:p>
            <a:pPr>
              <a:defRPr sz="1900">
                <a:solidFill>
                  <a:srgbClr val="1C222E"/>
                </a:solidFill>
              </a:defRPr>
            </a:pPr>
            <a:r>
              <a:t>• 形成“设元-列式-求解-检验”习惯。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21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初中数学精讲课件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C222E"/>
                </a:solidFill>
              </a:defRPr>
            </a:pPr>
            <a:r>
              <a:t>学情分析与重点难点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972800" cy="5212080"/>
          </a:xfrm>
          <a:prstGeom prst="roundRect">
            <a:avLst/>
          </a:prstGeom>
          <a:solidFill>
            <a:srgbClr val="FFFFFF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737360"/>
            <a:ext cx="1024128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>
                <a:solidFill>
                  <a:srgbClr val="1C222E"/>
                </a:solidFill>
              </a:defRPr>
            </a:pPr>
            <a:r>
              <a:t>• 重点：识别等量关系并建模。</a:t>
            </a:r>
          </a:p>
          <a:p>
            <a:pPr>
              <a:defRPr sz="2100">
                <a:solidFill>
                  <a:srgbClr val="1C222E"/>
                </a:solidFill>
              </a:defRPr>
            </a:pPr>
            <a:r>
              <a:t>• 难点：复杂语句翻译成方程。</a:t>
            </a:r>
          </a:p>
          <a:p>
            <a:pPr>
              <a:defRPr sz="1900">
                <a:solidFill>
                  <a:srgbClr val="1C222E"/>
                </a:solidFill>
              </a:defRPr>
            </a:pPr>
            <a:r>
              <a:t>• 策略：图示+表格双通道讲解。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21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图示页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C222E"/>
                </a:solidFill>
              </a:defRPr>
            </a:pPr>
            <a:r>
              <a:t>线段图示：数量关系可视化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972800" cy="5212080"/>
          </a:xfrm>
          <a:prstGeom prst="roundRect">
            <a:avLst/>
          </a:prstGeom>
          <a:solidFill>
            <a:srgbClr val="FFFFFF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28800" y="3200400"/>
            <a:ext cx="8046720" cy="54864"/>
          </a:xfrm>
          <a:prstGeom prst="rect">
            <a:avLst/>
          </a:prstGeom>
          <a:solidFill>
            <a:srgbClr val="4650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737360" y="3063240"/>
            <a:ext cx="228600" cy="228600"/>
          </a:xfrm>
          <a:prstGeom prst="ellipse">
            <a:avLst/>
          </a:prstGeom>
          <a:solidFill>
            <a:srgbClr val="21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91639" y="3337560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/>
            </a:pPr>
            <a:r>
              <a:t>A</a:t>
            </a:r>
          </a:p>
        </p:txBody>
      </p:sp>
      <p:sp>
        <p:nvSpPr>
          <p:cNvPr id="9" name="Oval 8"/>
          <p:cNvSpPr/>
          <p:nvPr/>
        </p:nvSpPr>
        <p:spPr>
          <a:xfrm>
            <a:off x="5394960" y="3063240"/>
            <a:ext cx="228600" cy="228600"/>
          </a:xfrm>
          <a:prstGeom prst="ellipse">
            <a:avLst/>
          </a:prstGeom>
          <a:solidFill>
            <a:srgbClr val="21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49240" y="3337560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/>
            </a:pPr>
            <a:r>
              <a:t>B</a:t>
            </a:r>
          </a:p>
        </p:txBody>
      </p:sp>
      <p:sp>
        <p:nvSpPr>
          <p:cNvPr id="11" name="Oval 10"/>
          <p:cNvSpPr/>
          <p:nvPr/>
        </p:nvSpPr>
        <p:spPr>
          <a:xfrm>
            <a:off x="9875520" y="3063240"/>
            <a:ext cx="228600" cy="228600"/>
          </a:xfrm>
          <a:prstGeom prst="ellipse">
            <a:avLst/>
          </a:prstGeom>
          <a:solidFill>
            <a:srgbClr val="21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29800" y="3337560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/>
            </a:pPr>
            <a:r>
              <a:t>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2560320"/>
            <a:ext cx="7132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647080"/>
                </a:solidFill>
              </a:defRPr>
            </a:pPr>
            <a:r>
              <a:t>AB : BC = 2 : 3（线段图建模）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21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表格图示页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C222E"/>
                </a:solidFill>
              </a:defRPr>
            </a:pPr>
            <a:r>
              <a:t>表格图示：信息整理与方程建构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0" y="1645920"/>
          <a:ext cx="1033272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83180"/>
                <a:gridCol w="2583180"/>
                <a:gridCol w="2583180"/>
                <a:gridCol w="2583180"/>
              </a:tblGrid>
              <a:tr h="877824">
                <a:tc>
                  <a:txBody>
                    <a:bodyPr/>
                    <a:lstStyle/>
                    <a:p>
                      <a:r>
                        <a:t>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已知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未知设元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关系式</a:t>
                      </a:r>
                    </a:p>
                  </a:txBody>
                  <a:tcPr/>
                </a:tc>
              </a:tr>
              <a:tr h="877824">
                <a:tc>
                  <a:txBody>
                    <a:bodyPr/>
                    <a:lstStyle/>
                    <a:p>
                      <a:r>
                        <a:t>原价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未知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877824">
                <a:tc>
                  <a:txBody>
                    <a:bodyPr/>
                    <a:lstStyle/>
                    <a:p>
                      <a:r>
                        <a:t>折扣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0.8x</a:t>
                      </a:r>
                    </a:p>
                  </a:txBody>
                  <a:tcPr/>
                </a:tc>
              </a:tr>
              <a:tr h="877824">
                <a:tc>
                  <a:txBody>
                    <a:bodyPr/>
                    <a:lstStyle/>
                    <a:p>
                      <a:r>
                        <a:t>现价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120元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0.8x=120</a:t>
                      </a:r>
                    </a:p>
                  </a:txBody>
                  <a:tcPr/>
                </a:tc>
              </a:tr>
              <a:tr h="877824">
                <a:tc>
                  <a:txBody>
                    <a:bodyPr/>
                    <a:lstStyle/>
                    <a:p>
                      <a:r>
                        <a:t>结果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x=150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21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初中数学精讲课件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C222E"/>
                </a:solidFill>
              </a:defRPr>
            </a:pPr>
            <a:r>
              <a:t>例题1（基础）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972800" cy="5212080"/>
          </a:xfrm>
          <a:prstGeom prst="roundRect">
            <a:avLst/>
          </a:prstGeom>
          <a:solidFill>
            <a:srgbClr val="FFFFFF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737360"/>
            <a:ext cx="1024128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>
                <a:solidFill>
                  <a:srgbClr val="1C222E"/>
                </a:solidFill>
              </a:defRPr>
            </a:pPr>
            <a:r>
              <a:t>• 题目拆解：已知-未知-关系。</a:t>
            </a:r>
          </a:p>
          <a:p>
            <a:pPr>
              <a:defRPr sz="2100">
                <a:solidFill>
                  <a:srgbClr val="1C222E"/>
                </a:solidFill>
              </a:defRPr>
            </a:pPr>
            <a:r>
              <a:t>• 完整步骤：设元→列式→解→检验。</a:t>
            </a:r>
          </a:p>
          <a:p>
            <a:pPr>
              <a:defRPr sz="1900">
                <a:solidFill>
                  <a:srgbClr val="1C222E"/>
                </a:solidFill>
              </a:defRPr>
            </a:pPr>
            <a:r>
              <a:t>• 板书规范示例。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21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初中数学精讲课件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C222E"/>
                </a:solidFill>
              </a:defRPr>
            </a:pPr>
            <a:r>
              <a:t>例题2（提升）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972800" cy="5212080"/>
          </a:xfrm>
          <a:prstGeom prst="roundRect">
            <a:avLst/>
          </a:prstGeom>
          <a:solidFill>
            <a:srgbClr val="FFFFFF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737360"/>
            <a:ext cx="1024128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>
                <a:solidFill>
                  <a:srgbClr val="1C222E"/>
                </a:solidFill>
              </a:defRPr>
            </a:pPr>
            <a:r>
              <a:t>• 加入折扣/百分比/行程条件。</a:t>
            </a:r>
          </a:p>
          <a:p>
            <a:pPr>
              <a:defRPr sz="2100">
                <a:solidFill>
                  <a:srgbClr val="1C222E"/>
                </a:solidFill>
              </a:defRPr>
            </a:pPr>
            <a:r>
              <a:t>• 强调等价变形与单位一致。</a:t>
            </a:r>
          </a:p>
          <a:p>
            <a:pPr>
              <a:defRPr sz="1900">
                <a:solidFill>
                  <a:srgbClr val="1C222E"/>
                </a:solidFill>
              </a:defRPr>
            </a:pPr>
            <a:r>
              <a:t>• 结果合理性判断。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21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初中数学精讲课件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C222E"/>
                </a:solidFill>
              </a:defRPr>
            </a:pPr>
            <a:r>
              <a:t>易错点专题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972800" cy="5212080"/>
          </a:xfrm>
          <a:prstGeom prst="roundRect">
            <a:avLst/>
          </a:prstGeom>
          <a:solidFill>
            <a:srgbClr val="FFFFFF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737360"/>
            <a:ext cx="1024128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>
                <a:solidFill>
                  <a:srgbClr val="1C222E"/>
                </a:solidFill>
              </a:defRPr>
            </a:pPr>
            <a:r>
              <a:t>• 折扣误写、移项变号、漏检验。</a:t>
            </a:r>
          </a:p>
          <a:p>
            <a:pPr>
              <a:defRPr sz="2100">
                <a:solidFill>
                  <a:srgbClr val="1C222E"/>
                </a:solidFill>
              </a:defRPr>
            </a:pPr>
            <a:r>
              <a:t>• 一题多错法对比纠偏。</a:t>
            </a:r>
          </a:p>
          <a:p>
            <a:pPr>
              <a:defRPr sz="1900">
                <a:solidFill>
                  <a:srgbClr val="1C222E"/>
                </a:solidFill>
              </a:defRPr>
            </a:pPr>
            <a:r>
              <a:t>• 建立自检清单。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21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动画节奏页（授课节拍）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C222E"/>
                </a:solidFill>
              </a:defRPr>
            </a:pPr>
            <a:r>
              <a:t>课堂演示节奏（建议逐步出现）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645920"/>
            <a:ext cx="10332720" cy="548640"/>
          </a:xfrm>
          <a:prstGeom prst="roundRect">
            <a:avLst/>
          </a:prstGeom>
          <a:solidFill>
            <a:srgbClr val="FFFFFF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>
                <a:solidFill>
                  <a:srgbClr val="1C222E"/>
                </a:solidFill>
              </a:defRPr>
            </a:pPr>
            <a:r>
              <a:t>Step1 显示题目关键信息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377440"/>
            <a:ext cx="10332720" cy="548640"/>
          </a:xfrm>
          <a:prstGeom prst="roundRect">
            <a:avLst/>
          </a:prstGeom>
          <a:solidFill>
            <a:srgbClr val="FFFFFF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>
                <a:solidFill>
                  <a:srgbClr val="1C222E"/>
                </a:solidFill>
              </a:defRPr>
            </a:pPr>
            <a:r>
              <a:t>Step2 设未知数并标注单位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3108960"/>
            <a:ext cx="10332720" cy="548640"/>
          </a:xfrm>
          <a:prstGeom prst="roundRect">
            <a:avLst/>
          </a:prstGeom>
          <a:solidFill>
            <a:srgbClr val="FFFFFF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>
                <a:solidFill>
                  <a:srgbClr val="1C222E"/>
                </a:solidFill>
              </a:defRPr>
            </a:pPr>
            <a:r>
              <a:t>Step3 仅出现等量关系句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3840480"/>
            <a:ext cx="10332720" cy="548640"/>
          </a:xfrm>
          <a:prstGeom prst="roundRect">
            <a:avLst/>
          </a:prstGeom>
          <a:solidFill>
            <a:srgbClr val="FFFFFF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>
                <a:solidFill>
                  <a:srgbClr val="1C222E"/>
                </a:solidFill>
              </a:defRPr>
            </a:pPr>
            <a:r>
              <a:t>Step4 展示列方程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4572000"/>
            <a:ext cx="10332720" cy="548640"/>
          </a:xfrm>
          <a:prstGeom prst="roundRect">
            <a:avLst/>
          </a:prstGeom>
          <a:solidFill>
            <a:srgbClr val="FFFFFF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>
                <a:solidFill>
                  <a:srgbClr val="1C222E"/>
                </a:solidFill>
              </a:defRPr>
            </a:pPr>
            <a:r>
              <a:t>Step5 展示求解与检验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5303520"/>
            <a:ext cx="10332720" cy="548640"/>
          </a:xfrm>
          <a:prstGeom prst="roundRect">
            <a:avLst/>
          </a:prstGeom>
          <a:solidFill>
            <a:srgbClr val="FFFFFF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>
                <a:solidFill>
                  <a:srgbClr val="1C222E"/>
                </a:solidFill>
              </a:defRPr>
            </a:pPr>
            <a:r>
              <a:t>Step6 显示标准作答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21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初中数学精讲课件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C222E"/>
                </a:solidFill>
              </a:defRPr>
            </a:pPr>
            <a:r>
              <a:t>分层练习A（基础）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972800" cy="5212080"/>
          </a:xfrm>
          <a:prstGeom prst="roundRect">
            <a:avLst/>
          </a:prstGeom>
          <a:solidFill>
            <a:srgbClr val="FFFFFF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737360"/>
            <a:ext cx="1024128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>
                <a:solidFill>
                  <a:srgbClr val="1C222E"/>
                </a:solidFill>
              </a:defRPr>
            </a:pPr>
            <a:r>
              <a:t>• 3道规范训练题。</a:t>
            </a:r>
          </a:p>
          <a:p>
            <a:pPr>
              <a:defRPr sz="2100">
                <a:solidFill>
                  <a:srgbClr val="1C222E"/>
                </a:solidFill>
              </a:defRPr>
            </a:pPr>
            <a:r>
              <a:t>• 要求完整书写过程。</a:t>
            </a:r>
          </a:p>
          <a:p>
            <a:pPr>
              <a:defRPr sz="1900">
                <a:solidFill>
                  <a:srgbClr val="1C222E"/>
                </a:solidFill>
              </a:defRPr>
            </a:pPr>
            <a:r>
              <a:t>• 课堂讲评对照标准答案。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21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初中数学精讲课件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C222E"/>
                </a:solidFill>
              </a:defRPr>
            </a:pPr>
            <a:r>
              <a:t>分层练习B（提升）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972800" cy="5212080"/>
          </a:xfrm>
          <a:prstGeom prst="roundRect">
            <a:avLst/>
          </a:prstGeom>
          <a:solidFill>
            <a:srgbClr val="FFFFFF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737360"/>
            <a:ext cx="1024128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>
                <a:solidFill>
                  <a:srgbClr val="1C222E"/>
                </a:solidFill>
              </a:defRPr>
            </a:pPr>
            <a:r>
              <a:t>• 2道综合应用题。</a:t>
            </a:r>
          </a:p>
          <a:p>
            <a:pPr>
              <a:defRPr sz="2100">
                <a:solidFill>
                  <a:srgbClr val="1C222E"/>
                </a:solidFill>
              </a:defRPr>
            </a:pPr>
            <a:r>
              <a:t>• 鼓励多种设元方式。</a:t>
            </a:r>
          </a:p>
          <a:p>
            <a:pPr>
              <a:defRPr sz="1900">
                <a:solidFill>
                  <a:srgbClr val="1C222E"/>
                </a:solidFill>
              </a:defRPr>
            </a:pPr>
            <a:r>
              <a:t>• 同伴互评。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21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初中数学精讲课件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C222E"/>
                </a:solidFill>
              </a:defRPr>
            </a:pPr>
            <a:r>
              <a:t>课堂小结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972800" cy="5212080"/>
          </a:xfrm>
          <a:prstGeom prst="roundRect">
            <a:avLst/>
          </a:prstGeom>
          <a:solidFill>
            <a:srgbClr val="FFFFFF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737360"/>
            <a:ext cx="1024128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>
                <a:solidFill>
                  <a:srgbClr val="1C222E"/>
                </a:solidFill>
              </a:defRPr>
            </a:pPr>
            <a:r>
              <a:t>• 回顾关键词与方法链。</a:t>
            </a:r>
          </a:p>
          <a:p>
            <a:pPr>
              <a:defRPr sz="2100">
                <a:solidFill>
                  <a:srgbClr val="1C222E"/>
                </a:solidFill>
              </a:defRPr>
            </a:pPr>
            <a:r>
              <a:t>• 总结常见陷阱。</a:t>
            </a:r>
          </a:p>
          <a:p>
            <a:pPr>
              <a:defRPr sz="1900">
                <a:solidFill>
                  <a:srgbClr val="1C222E"/>
                </a:solidFill>
              </a:defRPr>
            </a:pPr>
            <a:r>
              <a:t>• 形成可迁移解题模板。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21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初中数学精讲课件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C222E"/>
                </a:solidFill>
              </a:defRPr>
            </a:pPr>
            <a:r>
              <a:t>课后作业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972800" cy="5212080"/>
          </a:xfrm>
          <a:prstGeom prst="roundRect">
            <a:avLst/>
          </a:prstGeom>
          <a:solidFill>
            <a:srgbClr val="FFFFFF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737360"/>
            <a:ext cx="1024128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>
                <a:solidFill>
                  <a:srgbClr val="1C222E"/>
                </a:solidFill>
              </a:defRPr>
            </a:pPr>
            <a:r>
              <a:t>• 必做：基础巩固。</a:t>
            </a:r>
          </a:p>
          <a:p>
            <a:pPr>
              <a:defRPr sz="2100">
                <a:solidFill>
                  <a:srgbClr val="1C222E"/>
                </a:solidFill>
              </a:defRPr>
            </a:pPr>
            <a:r>
              <a:t>• 选做：生活化建模题。</a:t>
            </a:r>
          </a:p>
          <a:p>
            <a:pPr>
              <a:defRPr sz="1900">
                <a:solidFill>
                  <a:srgbClr val="1C222E"/>
                </a:solidFill>
              </a:defRPr>
            </a:pPr>
            <a:r>
              <a:t>• 预习下节关联知识。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21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初中数学精讲课件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C222E"/>
                </a:solidFill>
              </a:defRPr>
            </a:pPr>
            <a:r>
              <a:t>附：教师讲稿提示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972800" cy="5212080"/>
          </a:xfrm>
          <a:prstGeom prst="roundRect">
            <a:avLst/>
          </a:prstGeom>
          <a:solidFill>
            <a:srgbClr val="FFFFFF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737360"/>
            <a:ext cx="1024128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>
                <a:solidFill>
                  <a:srgbClr val="1C222E"/>
                </a:solidFill>
              </a:defRPr>
            </a:pPr>
            <a:r>
              <a:t>• 每页给出提问点。</a:t>
            </a:r>
          </a:p>
          <a:p>
            <a:pPr>
              <a:defRPr sz="2100">
                <a:solidFill>
                  <a:srgbClr val="1C222E"/>
                </a:solidFill>
              </a:defRPr>
            </a:pPr>
            <a:r>
              <a:t>• 控制讲解节奏与互动。</a:t>
            </a:r>
          </a:p>
          <a:p>
            <a:pPr>
              <a:defRPr sz="1900">
                <a:solidFill>
                  <a:srgbClr val="1C222E"/>
                </a:solidFill>
              </a:defRPr>
            </a:pPr>
            <a:r>
              <a:t>• 关注薄弱生纠错。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21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初中数学精讲课件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C222E"/>
                </a:solidFill>
              </a:defRPr>
            </a:pPr>
            <a:r>
              <a:t>附：板书设计建议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972800" cy="5212080"/>
          </a:xfrm>
          <a:prstGeom prst="roundRect">
            <a:avLst/>
          </a:prstGeom>
          <a:solidFill>
            <a:srgbClr val="FFFFFF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737360"/>
            <a:ext cx="1024128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>
                <a:solidFill>
                  <a:srgbClr val="1C222E"/>
                </a:solidFill>
              </a:defRPr>
            </a:pPr>
            <a:r>
              <a:t>• 左侧思路、右侧计算。</a:t>
            </a:r>
          </a:p>
          <a:p>
            <a:pPr>
              <a:defRPr sz="2100">
                <a:solidFill>
                  <a:srgbClr val="1C222E"/>
                </a:solidFill>
              </a:defRPr>
            </a:pPr>
            <a:r>
              <a:t>• 统一符号与单位。</a:t>
            </a:r>
          </a:p>
          <a:p>
            <a:pPr>
              <a:defRPr sz="1900">
                <a:solidFill>
                  <a:srgbClr val="1C222E"/>
                </a:solidFill>
              </a:defRPr>
            </a:pPr>
            <a:r>
              <a:t>• 检验单独成行。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